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f141d884ab4160" /><Relationship Type="http://schemas.openxmlformats.org/officeDocument/2006/relationships/extended-properties" Target="/docProps/app.xml" Id="R1b7fe69c263648ed" /><Relationship Type="http://schemas.openxmlformats.org/officeDocument/2006/relationships/officeDocument" Target="/ppt/presentation.xml" Id="R68c589c20420497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92f6c2f15b4f7e"/>
  </p:sldMasterIdLst>
  <p:notesMasterIdLst>
    <p:notesMasterId xmlns:r="http://schemas.openxmlformats.org/officeDocument/2006/relationships" r:id="R5072ccb9fc3241e6"/>
  </p:notesMasterIdLst>
  <p:sldIdLst>
    <p:sldId xmlns:r="http://schemas.openxmlformats.org/officeDocument/2006/relationships" id="256" r:id="Rb19672a95c2840af"/>
    <p:sldId xmlns:r="http://schemas.openxmlformats.org/officeDocument/2006/relationships" id="257" r:id="R853fb9e5eeca4c80"/>
    <p:sldId xmlns:r="http://schemas.openxmlformats.org/officeDocument/2006/relationships" id="258" r:id="R99c11699bce247fa"/>
    <p:sldId xmlns:r="http://schemas.openxmlformats.org/officeDocument/2006/relationships" id="259" r:id="R73097b5e302147d8"/>
    <p:sldId xmlns:r="http://schemas.openxmlformats.org/officeDocument/2006/relationships" id="260" r:id="Rc5167f06fdb24cae"/>
    <p:sldId xmlns:r="http://schemas.openxmlformats.org/officeDocument/2006/relationships" id="261" r:id="Rc99a1af7eb7446fd"/>
    <p:sldId xmlns:r="http://schemas.openxmlformats.org/officeDocument/2006/relationships" id="262" r:id="Rcb2c67e608b14a6e"/>
    <p:sldId xmlns:r="http://schemas.openxmlformats.org/officeDocument/2006/relationships" id="263" r:id="Rcdeb763bf0554143"/>
    <p:sldId xmlns:r="http://schemas.openxmlformats.org/officeDocument/2006/relationships" id="264" r:id="R85882b6c5d6745f4"/>
    <p:sldId xmlns:r="http://schemas.openxmlformats.org/officeDocument/2006/relationships" id="265" r:id="R8ab7ecb8a5a14b99"/>
    <p:sldId xmlns:r="http://schemas.openxmlformats.org/officeDocument/2006/relationships" id="266" r:id="R5041ea41b0ac47ce"/>
    <p:sldId xmlns:r="http://schemas.openxmlformats.org/officeDocument/2006/relationships" id="267" r:id="Reb87629f77fa4d99"/>
    <p:sldId xmlns:r="http://schemas.openxmlformats.org/officeDocument/2006/relationships" id="268" r:id="R8a568d4b0c9345de"/>
    <p:sldId xmlns:r="http://schemas.openxmlformats.org/officeDocument/2006/relationships" id="269" r:id="R3fa1cb20301a4845"/>
    <p:sldId xmlns:r="http://schemas.openxmlformats.org/officeDocument/2006/relationships" id="270" r:id="R5bda7d879ff2402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d67f829af644ead" /><Relationship Type="http://schemas.openxmlformats.org/officeDocument/2006/relationships/slideMaster" Target="/ppt/slideMasters/slideMaster1.xml" Id="R9e92f6c2f15b4f7e" /><Relationship Type="http://schemas.openxmlformats.org/officeDocument/2006/relationships/notesMaster" Target="/ppt/notesMasters/notesMaster1.xml" Id="R5072ccb9fc3241e6" /><Relationship Type="http://schemas.openxmlformats.org/officeDocument/2006/relationships/presProps" Target="/ppt/presProps.xml" Id="R68d8006b19b143ce" /><Relationship Type="http://schemas.openxmlformats.org/officeDocument/2006/relationships/tableStyles" Target="/ppt/tableStyles.xml" Id="Rd46c9cb9538c4494" /><Relationship Type="http://schemas.openxmlformats.org/officeDocument/2006/relationships/slide" Target="/ppt/slides/slide1.xml" Id="Rb19672a95c2840af" /><Relationship Type="http://schemas.openxmlformats.org/officeDocument/2006/relationships/slide" Target="/ppt/slides/slide2.xml" Id="R853fb9e5eeca4c80" /><Relationship Type="http://schemas.openxmlformats.org/officeDocument/2006/relationships/slide" Target="/ppt/slides/slide3.xml" Id="R99c11699bce247fa" /><Relationship Type="http://schemas.openxmlformats.org/officeDocument/2006/relationships/slide" Target="/ppt/slides/slide4.xml" Id="R73097b5e302147d8" /><Relationship Type="http://schemas.openxmlformats.org/officeDocument/2006/relationships/slide" Target="/ppt/slides/slide5.xml" Id="Rc5167f06fdb24cae" /><Relationship Type="http://schemas.openxmlformats.org/officeDocument/2006/relationships/slide" Target="/ppt/slides/slide6.xml" Id="Rc99a1af7eb7446fd" /><Relationship Type="http://schemas.openxmlformats.org/officeDocument/2006/relationships/slide" Target="/ppt/slides/slide7.xml" Id="Rcb2c67e608b14a6e" /><Relationship Type="http://schemas.openxmlformats.org/officeDocument/2006/relationships/slide" Target="/ppt/slides/slide8.xml" Id="Rcdeb763bf0554143" /><Relationship Type="http://schemas.openxmlformats.org/officeDocument/2006/relationships/slide" Target="/ppt/slides/slide9.xml" Id="R85882b6c5d6745f4" /><Relationship Type="http://schemas.openxmlformats.org/officeDocument/2006/relationships/slide" Target="/ppt/slides/slide10.xml" Id="R8ab7ecb8a5a14b99" /><Relationship Type="http://schemas.openxmlformats.org/officeDocument/2006/relationships/slide" Target="/ppt/slides/slide11.xml" Id="R5041ea41b0ac47ce" /><Relationship Type="http://schemas.openxmlformats.org/officeDocument/2006/relationships/slide" Target="/ppt/slides/slide12.xml" Id="Reb87629f77fa4d99" /><Relationship Type="http://schemas.openxmlformats.org/officeDocument/2006/relationships/slide" Target="/ppt/slides/slide13.xml" Id="R8a568d4b0c9345de" /><Relationship Type="http://schemas.openxmlformats.org/officeDocument/2006/relationships/slide" Target="/ppt/slides/slide14.xml" Id="R3fa1cb20301a4845" /><Relationship Type="http://schemas.openxmlformats.org/officeDocument/2006/relationships/slide" Target="/ppt/slides/slide15.xml" Id="R5bda7d879ff2402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659e8a73fdd4f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b81ad0133e43fc" /><Relationship Type="http://schemas.openxmlformats.org/officeDocument/2006/relationships/notesMaster" Target="/ppt/notesMasters/notesMaster1.xml" Id="R0005d6bfd1174cc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a5329a6df4944e8" /><Relationship Type="http://schemas.openxmlformats.org/officeDocument/2006/relationships/notesMaster" Target="/ppt/notesMasters/notesMaster1.xml" Id="Rf174032fe8404e1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df464d64a7449a" /><Relationship Type="http://schemas.openxmlformats.org/officeDocument/2006/relationships/notesMaster" Target="/ppt/notesMasters/notesMaster1.xml" Id="Rc445407aa53a488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d3dd411776e4355" /><Relationship Type="http://schemas.openxmlformats.org/officeDocument/2006/relationships/notesMaster" Target="/ppt/notesMasters/notesMaster1.xml" Id="Rb368ff50cb1e40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829a3f784da4675" /><Relationship Type="http://schemas.openxmlformats.org/officeDocument/2006/relationships/notesMaster" Target="/ppt/notesMasters/notesMaster1.xml" Id="Re21b20c9445b4c5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84b731b7f74b8f" /><Relationship Type="http://schemas.openxmlformats.org/officeDocument/2006/relationships/notesMaster" Target="/ppt/notesMasters/notesMaster1.xml" Id="Reee123740ab3471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11b9fb743b4db0" /><Relationship Type="http://schemas.openxmlformats.org/officeDocument/2006/relationships/notesMaster" Target="/ppt/notesMasters/notesMaster1.xml" Id="R012c23b013ee496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d2ad1214cd45dc" /><Relationship Type="http://schemas.openxmlformats.org/officeDocument/2006/relationships/notesMaster" Target="/ppt/notesMasters/notesMaster1.xml" Id="Rbf11b884336641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901cccff88d43c8" /><Relationship Type="http://schemas.openxmlformats.org/officeDocument/2006/relationships/notesMaster" Target="/ppt/notesMasters/notesMaster1.xml" Id="Rdb45a9a872d5470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8c096db1e9c4c00" /><Relationship Type="http://schemas.openxmlformats.org/officeDocument/2006/relationships/notesMaster" Target="/ppt/notesMasters/notesMaster1.xml" Id="R0961b57776d345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04b094c3fc2438c" /><Relationship Type="http://schemas.openxmlformats.org/officeDocument/2006/relationships/notesMaster" Target="/ppt/notesMasters/notesMaster1.xml" Id="R81b4e52375c34a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5d6a6744944d2e" /><Relationship Type="http://schemas.openxmlformats.org/officeDocument/2006/relationships/notesMaster" Target="/ppt/notesMasters/notesMaster1.xml" Id="R8cce6af2145e400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b36d5d3952e461d" /><Relationship Type="http://schemas.openxmlformats.org/officeDocument/2006/relationships/notesMaster" Target="/ppt/notesMasters/notesMaster1.xml" Id="R6850d601be86476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f180cb8e2614bc2" /><Relationship Type="http://schemas.openxmlformats.org/officeDocument/2006/relationships/notesMaster" Target="/ppt/notesMasters/notesMaster1.xml" Id="R618d6811a72c440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1194256393d4931" /><Relationship Type="http://schemas.openxmlformats.org/officeDocument/2006/relationships/notesMaster" Target="/ppt/notesMasters/notesMaster1.xml" Id="R8d4f2b034f304a7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เปิดด้วยประโยคเดียว: DART เป็น protocol บน UDP ที่ไม่มองข้อมูล sensor ทุกชิ้นว่ามีความสำคัญเท่ากัน จากนั้นแนะนำผู้จัดทำ เมตัส พานิช กายย์ รหัสนิสิต 6710405460 และบอกโจทย์ที่จะพิสูจน์ในเดโม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docs/PROTOCOL_SPEC.md</a:t>
            </a:r>
          </a:p>
          <a:p xmlns:a="http://schemas.openxmlformats.org/drawingml/2006/main">
            <a:r>
              <a:t>- Project 1: Socket Programming (course handout)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อธิบายด้วยภาษาง่าย ๆ ว่า sensor ส่งข้อมูลสามแบบ ถ้าใช้วิธีเดียวกับทุกอย่างจะเกิด trade-off ที่ไม่จำเป็น นี่คือช่องว่างที่ DART แก้ ไม่ใช่การทำ dashboard หรือ app ให้สวย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docs/PROTOCOL_SPEC.md</a:t>
            </a:r>
          </a:p>
          <a:p xmlns:a="http://schemas.openxmlformats.org/drawingml/2006/main">
            <a:r>
              <a:t>- 01418351 course materials (Chapters 1-2)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ตอบคำถามเรื่อง hardware ตรงนี้: virtual sensor เป็นโปรแกรมที่สร้างอุณหภูมิ ตำแหน่ง และเหตุไฟไหม้ จากนั้นส่ง datagram จริงผ่าน localhost ดังนั้นสิ่งที่เดโมคือ protocol ไม่ใช่การปลอมหน้าจอ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dart/simulator.py</a:t>
            </a:r>
          </a:p>
          <a:p xmlns:a="http://schemas.openxmlformats.org/drawingml/2006/main">
            <a:r>
              <a:t>- docs/DEMO_GUIDE.md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อธิบายเหตุผลเลือก UDP แบบไม่โจมตี TCP เราต้องการ datagram boundary และเลือก ACK เฉพาะข้อความ จึงต้องสร้าง reliability primitives เอง ข้อแลกคือ prototype ยังไม่มี congestion control และ security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- 01418351 course materials (Chapters 2-3)</a:t>
            </a:r>
          </a:p>
          <a:p xmlns:a="http://schemas.openxmlformats.org/drawingml/2006/main">
            <a:r>
              <a:t>- docs/PROTOCOL_SPEC.md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นี่คือ slide แกนกลางของโปรเจกต์ ชี้ให้เห็นว่า batch ลด overhead, latest รักษาความสด และ critical ใช้ reliability เต็ม จุดเด่นไม่ได้อยู่ที่จำนวน feature แต่อยู่ที่ semantics ที่ต่างกันอย่างมีเหตุผล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docs/PROTOCOL_SPEC.md (delivery classes and message rules)</a:t>
            </a:r>
          </a:p>
          <a:p xmlns:a="http://schemas.openxmlformats.org/drawingml/2006/main">
            <a:r>
              <a:t>- docs/COURSE_ALIGNMENT.md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อธิบาย header เป็นสี่กลุ่มแทนการอ่านสิบสาม field ทีละตัว เน้นว่า fixed header ทำให้ parse ง่ายและ Wireshark แสดง field ได้ status code อยู่ใน header และ payload format ขึ้นกับ msg_type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docs/PROTOCOL_SPEC.md (wire format and payloads)</a:t>
            </a:r>
          </a:p>
          <a:p xmlns:a="http://schemas.openxmlformats.org/drawingml/2006/main">
            <a:r>
              <a:t>- dart/protocol.py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ชี้ request และ response ที่อาจารย์ขอให้มี พร้อมอ่าน status code กับ status phrase ตัวอย่างหนึ่งชุด ย้ำว่า DATA_BATCH และ LATEST_UPDATE ใน strict DART ไม่ตอบ ACK เพราะเป็น policy ที่ตั้งใจ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docs/PROTOCOL_SPEC.md (message catalog and status codes)</a:t>
            </a:r>
          </a:p>
          <a:p xmlns:a="http://schemas.openxmlformats.org/drawingml/2006/main">
            <a:r>
              <a:t>- Project 1: Socket Programming (course handout)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เล่า timeline จากบนลงล่าง Server รับ critical ครั้งแรกและ process แล้ว แต่ ACK ถูกบังคับให้หาย Client timeout และส่ง seq เดิม Server เห็น duplicate จึงไม่ process ซ้ำ แต่ตอบ 409 ให้ client ยืนยันสำเร็จ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docs/PROTOCOL_SPEC.md (reliable flow and duplicate rules)</a:t>
            </a:r>
          </a:p>
          <a:p xmlns:a="http://schemas.openxmlformats.org/drawingml/2006/main">
            <a:r>
              <a:t>- dart/client.py</a:t>
            </a:r>
          </a:p>
          <a:p xmlns:a="http://schemas.openxmlformats.org/drawingml/2006/main">
            <a:r>
              <a:t>- dart/server.py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อธิบาย multiplexing/demultiplexing: UDP destination port เดียวเข้า receiver เดียว จากนั้น DART แยก logical state ด้วย session และ sensor ล่าสุดยังแยก session ด้วย จึงไม่ปะปนกันแม้ client เลือก sensor ID ซ้ำ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- 01418351 course materials (Chapters 2-3)</a:t>
            </a:r>
          </a:p>
          <a:p xmlns:a="http://schemas.openxmlformats.org/drawingml/2006/main">
            <a:r>
              <a:t>- dart/server.py</a:t>
            </a:r>
          </a:p>
          <a:p xmlns:a="http://schemas.openxmlformats.org/drawingml/2006/main">
            <a:r>
              <a:t>- docs/COURSE_ALIGNMENT.md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รัน python3 -B demo.py แล้วชี้ผลทีละข้อ PASS ไม่ได้ดูแค่ว่ามี packet เข้า แต่ตรวจว่า critical sender confirm, มี forced ACK drop, มี retransmission, server เห็น duplicate และ process critical เท่ากับจำนวนที่สร้าง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results/latest_demo.json</a:t>
            </a:r>
          </a:p>
          <a:p xmlns:a="http://schemas.openxmlformats.org/drawingml/2006/main">
            <a:r>
              <a:t>- demo.py</a:t>
            </a:r>
          </a:p>
          <a:p xmlns:a="http://schemas.openxmlformats.org/drawingml/2006/main">
            <a:r>
              <a:t>- tests/test_demo.py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เปิด Wireshark หลังรัน server และ simulator เลือก packet ตามลำดับนี้ โดยเฉพาะ CRITICAL seq เดิมกับ flag retransmission และ ACK 409 นี่คือหลักฐานที่ตอบคำแนะนำ TA โดยตรง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wireshark/dart.lua</a:t>
            </a:r>
          </a:p>
          <a:p xmlns:a="http://schemas.openxmlformats.org/drawingml/2006/main">
            <a:r>
              <a:t>- wireshark/README.md</a:t>
            </a:r>
          </a:p>
          <a:p xmlns:a="http://schemas.openxmlformats.org/drawingml/2006/main">
            <a:r>
              <a:t>- docs/DEMO_GUIDE.md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ก่อนอวดผล ต้องอธิบาย fairness ทุก policy ใช้ event schedule เดียวกันและ fingerprint ต้องตรง ถ้า registration หรือ workload ไม่ตรง benchmark จะ abort Acceptance กับ confirmation และ attempted กับ sent bytes ถูกแยกนิยามชัดเจน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benchmark.py</a:t>
            </a:r>
          </a:p>
          <a:p xmlns:a="http://schemas.openxmlformats.org/drawingml/2006/main">
            <a:r>
              <a:t>- results/benchmark.json</a:t>
            </a:r>
          </a:p>
          <a:p xmlns:a="http://schemas.openxmlformats.org/drawingml/2006/main">
            <a:r>
              <a:t>- docs/DEMO_GUIDE.md (benchmark method)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อ่าน chart อย่างระวัง RAW ใช้ bytes ต่ำสุดแต่ไม่มี confirmation และ critical acceptance ไม่ครบ RELIABLE-ALL ได้ 100% แต่ใช้ bytes สูงสุด DART ยืนยัน critical 100% ในชุดนี้ด้วย overhead ระหว่างสองแบบ โดยยอมให้ normal/latest บางส่วนหาย ไม่พูดว่าชนะทุก metric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results/benchmark.json (20% loss summary)</a:t>
            </a:r>
          </a:p>
          <a:p xmlns:a="http://schemas.openxmlformats.org/drawingml/2006/main">
            <a:r>
              <a:t>- benchmark.py (metric definitions)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สรุปความต่างและพูดข้อจำกัดเองก่อนถูกถาม นี่ช่วยให้ claim น่าเชื่อถือ DART ไม่ได้แทน TCP หรือ MQTT ทุกกรณี แต่เป็น protocol การศึกษาที่ทำให้เห็นว่าความหมายของข้อความกำหนด reliability ได้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docs/PROTOCOL_SPEC.md (limitations)</a:t>
            </a:r>
          </a:p>
          <a:p xmlns:a="http://schemas.openxmlformats.org/drawingml/2006/main">
            <a:r>
              <a:t>- docs/COURSE_ALIGNMENT.md</a:t>
            </a:r>
          </a:p>
          <a:p xmlns:a="http://schemas.openxmlformats.org/drawingml/2006/main">
            <a:r>
              <a:t>- results/benchmark.json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ปิดด้วยประโยคบนจอแล้วหยุดหนึ่งจังหวะ จากนั้นเชิญถาม ถ้ามีเวลาเหลือให้ย้ำว่าทุกตัวเลขมาจากไฟล์ผลทดลองจริงและสามารถรัน demo ได้ด้วยคำสั่งเดียว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results/latest_demo.json</a:t>
            </a:r>
          </a:p>
          <a:p xmlns:a="http://schemas.openxmlformats.org/drawingml/2006/main">
            <a:r>
              <a:t>- results/benchmark.json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7fb78a12c345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cbd0c8c4fd4518" /><Relationship Type="http://schemas.openxmlformats.org/officeDocument/2006/relationships/slideLayout" Target="/ppt/slideLayouts/slideLayout1.xml" Id="Rd018161c9a7a4c8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18161c9a7a4c8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13a5a2e784aa7" /><Relationship Type="http://schemas.openxmlformats.org/officeDocument/2006/relationships/notesSlide" Target="/ppt/notesSlides/notesSlide1.xml" Id="R58d08f6d3c1f40a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eab030b704c36" /><Relationship Type="http://schemas.openxmlformats.org/officeDocument/2006/relationships/notesSlide" Target="/ppt/notesSlides/notesSlide2.xml" Id="Rb987987468a644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092cd06a6b4002" /><Relationship Type="http://schemas.openxmlformats.org/officeDocument/2006/relationships/notesSlide" Target="/ppt/notesSlides/notesSlide3.xml" Id="R857afb01bb7845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7a944baaa442d" /><Relationship Type="http://schemas.openxmlformats.org/officeDocument/2006/relationships/notesSlide" Target="/ppt/notesSlides/notesSlide4.xml" Id="R9b0bcd142a2d464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6e00ad1074e27" /><Relationship Type="http://schemas.openxmlformats.org/officeDocument/2006/relationships/notesSlide" Target="/ppt/notesSlides/notesSlide5.xml" Id="R88f3a00ab48c43e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e8b0f7cd054f9d" /><Relationship Type="http://schemas.openxmlformats.org/officeDocument/2006/relationships/notesSlide" Target="/ppt/notesSlides/notesSlide6.xml" Id="R168ae19c381246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58ba06cad49b7" /><Relationship Type="http://schemas.openxmlformats.org/officeDocument/2006/relationships/notesSlide" Target="/ppt/notesSlides/notesSlide7.xml" Id="R0e93f0170def47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1300ec0065495a" /><Relationship Type="http://schemas.openxmlformats.org/officeDocument/2006/relationships/notesSlide" Target="/ppt/notesSlides/notesSlide8.xml" Id="R22ff784df6e44b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d6ac02b034da8" /><Relationship Type="http://schemas.openxmlformats.org/officeDocument/2006/relationships/notesSlide" Target="/ppt/notesSlides/notesSlide9.xml" Id="Ref53390458c74b1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0ad565c2b14982" /><Relationship Type="http://schemas.openxmlformats.org/officeDocument/2006/relationships/notesSlide" Target="/ppt/notesSlides/notesSlide10.xml" Id="Rb162b2a9178d47a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695ccb18754eb8" /><Relationship Type="http://schemas.openxmlformats.org/officeDocument/2006/relationships/notesSlide" Target="/ppt/notesSlides/notesSlide11.xml" Id="Rd43050b3845c4e3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a908efdea74902" /><Relationship Type="http://schemas.openxmlformats.org/officeDocument/2006/relationships/notesSlide" Target="/ppt/notesSlides/notesSlide12.xml" Id="R95fbd151e850487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83e9288cab4a40" /><Relationship Type="http://schemas.openxmlformats.org/officeDocument/2006/relationships/chart" Target="/ppt/slides/charts/chart1.xml" Id="Rcbfd176f2e3145ed" /><Relationship Type="http://schemas.openxmlformats.org/officeDocument/2006/relationships/notesSlide" Target="/ppt/notesSlides/notesSlide13.xml" Id="Re7172d24b2bb4ee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115b50640a4720" /><Relationship Type="http://schemas.openxmlformats.org/officeDocument/2006/relationships/notesSlide" Target="/ppt/notesSlides/notesSlide14.xml" Id="R78c52ad5d984433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a672a804fc4fb4" /><Relationship Type="http://schemas.openxmlformats.org/officeDocument/2006/relationships/notesSlide" Target="/ppt/notesSlides/notesSlide15.xml" Id="R3145f07e0fd1461b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Attempted bytes/value</c:v>
          </c:tx>
          <c:spPr>
            <a:solidFill xmlns:a="http://schemas.openxmlformats.org/drawingml/2006/main">
              <a:srgbClr val="00A6A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5E7182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FF6B5E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0A6A6"/>
              </a:solidFill>
            </c:spPr>
          </c:dPt>
          <c:cat>
            <c:strLit>
              <c:ptCount val="3"/>
              <c:pt idx="0">
                <c:v>RAW</c:v>
              </c:pt>
              <c:pt idx="1">
                <c:v>RELIABLE-ALL</c:v>
              </c:pt>
              <c:pt idx="2">
                <c:v>DART</c:v>
              </c:pt>
            </c:strLit>
          </c:cat>
          <c:val>
            <c:numLit>
              <c:formatCode>General</c:formatCode>
              <c:ptCount val="3"/>
              <c:pt idx="0">
                <c:v>64.6</c:v>
              </c:pt>
              <c:pt idx="1">
                <c:v>119.7</c:v>
              </c:pt>
              <c:pt idx="2">
                <c:v>95.4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0B1F3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6E1E8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E7182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E1E8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72A3A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4F8FA"/>
        </a:solidFill>
      </c:spPr>
    </c:plotArea>
    <c:plotVisOnly val="1"/>
  </c:chart>
  <c:spPr>
    <a:solidFill xmlns:a="http://schemas.openxmlformats.org/drawingml/2006/main">
      <a:srgbClr val="F4F8FA"/>
    </a:solidFill>
    <a:ln xmlns:a="http://schemas.openxmlformats.org/drawingml/2006/main" w="0">
      <a:solidFill>
        <a:srgbClr val="F4F8FA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E2FC58-74A0-4C84-91E5-8DC776E6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278E20-DC8A-4CBB-BCA1-1F3A47A8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120205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E94A4E-64C4-4651-8A5B-8B656A6D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63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NETWORK APPLICATION PROTOCOL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36D807-DAE3-4790-A805-10DF06814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5715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5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D06F39-0DDD-4AFE-A836-7993F3579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5905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0">
                <a:solidFill>
                  <a:srgbClr val="D5E8EC"/>
                </a:solidFill>
                <a:latin typeface="Tahoma"/>
                <a:ea typeface="Tahoma"/>
                <a:cs typeface="Tahoma"/>
              </a:defRPr>
            </a:pPr>
            <a:r>
              <a:rPr sz="2250" b="0">
                <a:solidFill>
                  <a:srgbClr val="D5E8EC"/>
                </a:solidFill>
                <a:latin typeface="Tahoma"/>
                <a:ea typeface="Tahoma"/>
                <a:cs typeface="Tahoma"/>
              </a:rPr>
              <a:t>Deadline-Aware Reliable Telemetry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2B689-DF53-4DE1-B078-2A46E393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19450"/>
            <a:ext cx="5334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เลือกความน่าเชื่อถือให้เหมาะกับ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5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ความเร่งด่วนของแต่ละข้อความ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2B0070-39A3-4C56-B622-6E86D0C75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619250"/>
            <a:ext cx="371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2D1D2F-2AA7-4EE0-8D20-CC2EE79E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52625"/>
            <a:ext cx="133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0DA5B-8DC0-4F32-895A-537C5710C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9431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BATCH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C583DD-7EE6-4756-8563-8DD09C447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2669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5E8EC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D5E8EC"/>
                </a:solidFill>
                <a:latin typeface="Tahoma"/>
                <a:ea typeface="Tahoma"/>
                <a:cs typeface="Tahoma"/>
              </a:rPr>
              <a:t>ข้อมูลปกติ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EB2E5C-5F4E-4A68-AA5F-6ED63135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52750"/>
            <a:ext cx="133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D5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A8315C-96DB-47E4-B76A-DBB7CE885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432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LATEST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E5B7CDD-E468-4500-8CFC-DE1FDC81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26707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5E8EC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D5E8EC"/>
                </a:solidFill>
                <a:latin typeface="Tahoma"/>
                <a:ea typeface="Tahoma"/>
                <a:cs typeface="Tahoma"/>
              </a:rPr>
              <a:t>ค่าล่าสุด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FAA91D6-69ED-46E0-9E76-63A394A12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52875"/>
            <a:ext cx="133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F992D-9338-476E-B0C0-20D02DFE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9433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CRITICAL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4DE2E7-348C-4BF2-92D8-EB8CF67C6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2672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D5E8EC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D5E8EC"/>
                </a:solidFill>
                <a:latin typeface="Tahoma"/>
                <a:ea typeface="Tahoma"/>
                <a:cs typeface="Tahoma"/>
              </a:rPr>
              <a:t>เหตุสำคัญ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F39CF1-7218-487D-AF4B-108BEB5B7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BFD7DF"/>
                </a:solidFill>
                <a:latin typeface="Tahoma"/>
                <a:ea typeface="Tahoma"/>
                <a:cs typeface="Tahoma"/>
              </a:rPr>
              <a:t>01418351 • หลักการสื่อสารคอมพิวเตอร์และการประมวลผลบนคลาวด์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3B425A-BEF5-4C5D-87A9-17679F82A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67375"/>
            <a:ext cx="809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BFD7DF"/>
                </a:solidFill>
                <a:latin typeface="Tahoma"/>
                <a:ea typeface="Tahoma"/>
                <a:cs typeface="Tahoma"/>
              </a:rPr>
              <a:t>Computer Communications and Cloud Computing Principles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6A211A-5508-4633-AE58-3D1378480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245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20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เมตัส พานิช กายย์ • 6710405460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9FA791-313A-4560-8007-1880A161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CE92AA-311F-4AC2-84E0-013234917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BFD7DF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7A945-EE90-4B42-A339-BE99EB844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BFD7D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5301532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D2A60B-86F0-4340-850C-57C257572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D0BFF2-242C-40C0-B352-8EF82669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083B2-5FB1-4847-86C0-B99D47F8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ข้อมูลทุกชิ้นไม่ได้ต้องการ reliability เท่ากัน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8AE7F7-7060-424E-8D38-B03822B67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ระบบ sensor หนึ่งระบบมีทั้งข้อมูลถี่ ค่าที่หมดอายุเร็ว และเหตุที่ห้ามหาย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32A734-F8B8-4116-A407-D1AC9615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42262-F201-4A3B-9C04-CE057179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544AE8-CF13-4909-9FF9-35DA331F0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E6DE3-2568-45A3-B850-FDE8EB1DC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54D69-2A7A-49D3-8E33-8BD6F4CE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ค่าปกติ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F4734D-4BED-4557-8F5B-0F7E86B9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86125"/>
            <a:ext cx="2952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อุณหภูมิถูกส่งถี่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ยอมให้หายบางส่วนได้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เป้าหมายคือ overhead ต่ำ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6CB6EDA-3D45-44D7-A41F-85CA4B337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857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C775EE-444B-4535-8C4A-68BECF95E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2047875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856085-D199-4754-9B0C-FF2A643A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955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F6B7CD-1278-4E72-A89C-5A510073D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5717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ค่าล่าสุด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251D0-C4A3-464B-8C80-EFDEB499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86125"/>
            <a:ext cx="2952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ตำแหน่งเก่าหมดประโยชน์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ค่าปัจจุบันสำคัญกว่า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เป้าหมายคือ freshness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4EAC8-7E77-429A-84D4-44B96FC8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048250"/>
            <a:ext cx="857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D5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1E25B8-EBC3-495A-B1BF-A3512721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047875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458373-9C52-4308-92D3-07BC7DFB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955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401C6F-504C-48D1-A1CC-D5FE1DF51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71750"/>
            <a:ext cx="2952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เหตุฉุกเฉิน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091E28-CB25-4542-A6B0-63899E773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286125"/>
            <a:ext cx="2952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ไฟไหม้ต้องยืนยัน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retry ได้แต่ห้ามทำซ้ำ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7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เป้าหมายคือ confirmation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125FFB-CE5E-4524-9F49-0832CA07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5048250"/>
            <a:ext cx="857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96C339-DED8-490C-8B42-B0ABDF9B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72125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ถ้า ACK ทุกอย่าง: ช้าและเปลือง   |   ถ้าไม่ ACK เลย: critical อาจหาย</a:t>
            </a:r>
          </a:p>
        </p:txBody>
      </p:sp>
    </p:spTree>
    <p:extLst>
      <p:ext uri="{BB962C8B-B14F-4D97-AF65-F5344CB8AC3E}">
        <p14:creationId xmlns:p14="http://schemas.microsoft.com/office/powerpoint/2010/main" val="132685676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C45B75-9E01-4AA3-84C2-05D44EC82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2EF956-C118-4560-A377-DBF4F0919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PROJECT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9756EB-CDB8-4E43-B4FF-30899E3ED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DART คืออะไร และสาธิตโดยไม่ใช้ hardware อย่างไร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605FF7-77D6-41E1-B480-2B495BB4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Virtual sensors สร้าง traffic แต่ packet เดินทางผ่าน UDP socket จริง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2B6DA-DA57-458B-8D82-DC79B9990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651A1-9C0D-4BF0-859B-8F33D4E2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2E2C92-6992-4EC0-90C5-0AA8CBB52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044156-BFAB-42BA-9D36-D4898E38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905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วัตถุประสงค์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1A67E5-09E2-4070-83F1-A55852EC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5720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ออกแบบ syntax, semantics และ rules ของ protocol เอง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รองรับหลาย logical connections พร้อมกัน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พิสูจน์ ACK / timeout / retry / duplicate บน wire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วัด trade-off ของ RAW, RELIABLE-ALL และ DART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3EDA42-16EE-4ABC-96E7-8621ECD04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95575"/>
            <a:ext cx="16192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3E093D-99C9-4738-B6DA-6F6806C5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695575"/>
            <a:ext cx="114300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C3E929-AEE9-452E-9E9A-B35DAD46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238375"/>
            <a:ext cx="1428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6E1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AC030A-4A28-4421-A590-5C23EC1C4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38375"/>
            <a:ext cx="1809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4E92CA-4AE5-4A51-A439-2777DE68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238375"/>
            <a:ext cx="15049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6E1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5E2329-8C32-43CA-9FF9-E3349108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2505075"/>
            <a:ext cx="1047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Virtual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sensors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C68ECB-F389-4AAD-A870-5259E379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476500"/>
            <a:ext cx="1428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3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UDP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DART packets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264F8C-359A-42A8-BD8D-69088C52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505075"/>
            <a:ext cx="1123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Server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worker pool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BCD4BD-D3C0-436C-9432-30B93504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95750"/>
            <a:ext cx="566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87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ไม่มี sensor จริง • ไม่มี GUI dependency • รันได้บนเครื่องเดียว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189B8D-E219-40E1-964D-6BF3CAEA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10125"/>
            <a:ext cx="5667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App มีหน้าที่แค่พิสูจน์ protocol</a:t>
            </a:r>
          </a:p>
        </p:txBody>
      </p:sp>
    </p:spTree>
    <p:extLst>
      <p:ext uri="{BB962C8B-B14F-4D97-AF65-F5344CB8AC3E}">
        <p14:creationId xmlns:p14="http://schemas.microsoft.com/office/powerpoint/2010/main" val="20993472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DEFB24C-62FF-49D2-BB21-86273799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6B881F-C52E-412F-922B-2B9A476B9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TRANSPORT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036A5EB-014A-46BF-9288-237CB1CFB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ทำไมเลือก UDP แทน TCP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76B64E-4ACB-4809-9D5D-8219C215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ไม่ใช่เพราะ UDP ดีกว่าเสมอ แต่เพราะ DART ต้องเลือก reliability ในระดับข้อความ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9C7EA-B23C-42C4-ADD5-EE364623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5DB1D0-2014-41C4-91CD-96D5DFD1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7E95D9-5407-46BD-95CD-148D8ADD1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0A8A99-4A46-4A75-B306-4F82B60E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0820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0BD2DE-E8C9-4D79-89C8-BBB758E30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71700"/>
            <a:ext cx="18954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ประเด็น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0ACFAF-CBC8-409D-A608-BCA28E661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71700"/>
            <a:ext cx="177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UDP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7AC9E2-225C-4CBC-B16F-CFECC65F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171700"/>
            <a:ext cx="18192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TCP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A9F69-D6D4-4EC2-91FC-F671FD7D8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171700"/>
            <a:ext cx="441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DART ใช้ประโยชน์อย่างไร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F202CD-F07A-41BB-BC53-7A97D626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1895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เริ่มสื่อสาร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AD6E27-BC1B-46A8-86EA-9BB9A3AFD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876550"/>
            <a:ext cx="1771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ไม่มี handshake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99B4FC-959B-40F5-930E-62C89E39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2876550"/>
            <a:ext cx="1819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สร้าง connection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70C26E-D3BE-4043-A7C4-362A4FED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76550"/>
            <a:ext cx="441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virtual sensor เริ่มส่งได้ทันที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3B3135-A0CD-4E22-A129-106FC090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7E2214-FF10-48CB-9323-3B468DCC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0820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737C57C-4E87-4D60-B7FE-DD2AFBA6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81400"/>
            <a:ext cx="1895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ขอบเขตข้อมูล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D7DB18-62BA-441F-8ACF-063E7148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581400"/>
            <a:ext cx="1771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datagram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C25E74-85FB-46D2-A005-4313C5A26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581400"/>
            <a:ext cx="1819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byte stream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33DC0D-6B33-49EF-B352-C715DDA67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581400"/>
            <a:ext cx="441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1 datagram = 1 DART message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3E0E420-9627-49B8-8258-4A833AF37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ABD432C-9DB9-45C7-99C9-3C25260B3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6250"/>
            <a:ext cx="1895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172A3A"/>
                </a:solidFill>
                <a:latin typeface="Tahoma"/>
                <a:ea typeface="Tahoma"/>
                <a:cs typeface="Tahoma"/>
              </a:rPr>
              <a:t>Reliability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345B7E-F4E9-4937-81CC-0D246DEF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286250"/>
            <a:ext cx="1771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application เลือก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6004A7-17E9-482A-80AE-B798B1494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286250"/>
            <a:ext cx="1819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ทั้ง stream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5862BA-7C1E-413A-A5D7-3E2D070E9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286250"/>
            <a:ext cx="441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ACK เฉพาะ critical/control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9E72FE-5347-4F09-86D6-1C9A91FCB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6F1862-DE8D-4374-9FDC-36735DB7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08204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2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C16F5A-A29D-4C2F-8158-6992A1DB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991100"/>
            <a:ext cx="18954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สิ่งที่ต้องทำเอง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0E2F0B9-8751-4B8F-81AE-51BC26BC0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4991100"/>
            <a:ext cx="1771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loss/order/duplicate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68393DF-9A84-418C-B69B-7D04DECC0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4991100"/>
            <a:ext cx="18192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transport จัดการ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1376BE-95A8-4ACC-AE57-04E2C473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991100"/>
            <a:ext cx="4419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CRC + seq + TTL + timer + retry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9B551B-BABB-4974-861E-86D085760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83E9E9-7E92-46DA-A169-B8BBAAAEC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34050"/>
            <a:ext cx="1009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ข้อแลก: DART ต้องรับผิดชอบ reliability ของตัวเอง และยังไม่มี congestion control แบบ production</a:t>
            </a:r>
          </a:p>
        </p:txBody>
      </p:sp>
    </p:spTree>
    <p:extLst>
      <p:ext uri="{BB962C8B-B14F-4D97-AF65-F5344CB8AC3E}">
        <p14:creationId xmlns:p14="http://schemas.microsoft.com/office/powerpoint/2010/main" val="503834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56F301-58DB-4208-9A2E-DFF491EF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0BE448D-9156-4331-A340-C2ACCB93A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SERVICE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AC1366-E8C5-47CA-873F-E5111ED6C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3 delivery classes - 3 เป้าหมาย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87229-E453-4983-82FC-8F1FAF434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เลือก policy จากความหมายของข้อมูล ไม่ใช่บังคับทั้ง socket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F379CD-2BA1-4464-AC4B-F74BB668C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7630CB-9806-4CC5-A592-87C62E98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90A7FC-0381-4622-9110-887477EE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0B277C-2EFB-4CD1-B5C2-A1C82EEF1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CLASS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F4931E-5D54-4844-82E9-C01DB2E2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695450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DB66F1-65F6-4716-B80C-BBF7801AE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1695450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BEHAVIOR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3A8596-8613-49F9-98DD-7AF6558F9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954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WHY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92076-0E33-4FA9-877E-1F34B83B9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14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9F1110-980F-4C6D-A4FD-8C4C1953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67025"/>
            <a:ext cx="10706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1D1BF1-0D4A-4E42-9389-52D768F8B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71700"/>
            <a:ext cx="242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BEST-EFFORT BATCH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4E0138-77EC-4328-9639-5A59808C0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9075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ข้อมูลปกติ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D5F25F-D405-43DD-8E23-C48402894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9075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รวมหลาย readings / no ACK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5AFBAA-6506-4A8C-B47E-F35A813ED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ลด bytes ต่อค่า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0B1797-C4E3-4F77-82DA-27558D54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114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D5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A5B558-C6E1-442E-A6D7-6F15CFDB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05275"/>
            <a:ext cx="10706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722FF2-939F-4164-9C66-52B47319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409950"/>
            <a:ext cx="242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LATEST ONLY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DC63BA-CA76-4AA7-8234-AFC8EF3F1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4290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ตำแหน่งล่าสุด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B854B3-9064-4907-B842-C7F2FC61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42900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เก็บเฉพาะ sequence ใหม่กว่า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7B3A7B-76B8-4F6F-8648-5CDBD020B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4290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ความสดสำคัญกว่าประวัติ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FB9065-2103-446F-BECF-3EDE4289A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143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E11789-7F32-4421-A2B7-48E447B6A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43525"/>
            <a:ext cx="10706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501970-D4EC-426E-9636-3351C93E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648200"/>
            <a:ext cx="2428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CRITICAL RELIABLE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61E34F1-A582-4A13-9833-F23697A12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6725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เหตุไฟไหม้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7E6046-E360-434E-9166-4F76A75D0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667250"/>
            <a:ext cx="2762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ACK + timeout + retry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23E61C7-809B-4582-A9BD-AAF050C3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ยืนยัน แต่ process ครั้งเดียว</a:t>
            </a:r>
          </a:p>
        </p:txBody>
      </p:sp>
    </p:spTree>
    <p:extLst>
      <p:ext uri="{BB962C8B-B14F-4D97-AF65-F5344CB8AC3E}">
        <p14:creationId xmlns:p14="http://schemas.microsoft.com/office/powerpoint/2010/main" val="112254143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1E8F7A-2EC7-4F99-8E15-449D37D2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732CE6-5309-4C11-B1AD-7A334B61E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WIRE FORMAT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6BDD7E-B9F4-4BB4-BEB6-EF7798B0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Wire format: fixed header 40 bytes + payload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9F5DF0-C2D0-49F7-A89A-6F02822B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Big-endian • max datagram 1,200 bytes • CRC32 ครอบ header และ payload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178D1F-09CF-4EB9-BB1F-65C424648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DDD736-8732-449D-BC43-B8531E0A1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CFFE6-9C15-47A4-824A-6F87E3B8A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F97636-CD6B-436C-8E48-8585497E6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3622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39B221-9033-42B9-B49C-CF8A88B76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23622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DFDCB4-F911-43BB-9274-D3DF316A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95525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IDENTITY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432A6D-27BC-4DF2-9E0B-B7439264A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05125"/>
            <a:ext cx="2057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magic • version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msg_type • delivery • flags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5258EE-C1FA-4D3F-8D1A-4717D87A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190750"/>
            <a:ext cx="2781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D5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F28FE8-40AA-4D92-B6E5-16D4C294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47950"/>
            <a:ext cx="27813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09C36-F31A-479C-9E58-8107550D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295525"/>
            <a:ext cx="2552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DEMUX + ORDER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3853F5-7BC7-45BB-AB21-AAF292DD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905125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session_id • sensor_id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sequence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409245-D77E-4C26-BAEC-18A91D15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190750"/>
            <a:ext cx="2952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221513-6ECF-48F8-9363-D3AC97FF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647950"/>
            <a:ext cx="29527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73EB83-31C2-4FD1-A573-5ACBB641D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95525"/>
            <a:ext cx="2724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TIME + RESULT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A939DD-B1AF-47E7-9840-887759B0B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905125"/>
            <a:ext cx="26479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timestamp_ms • ttl_ms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status_code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9FCDC20-94CD-4CE0-9155-0E3EF9B7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190750"/>
            <a:ext cx="2724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EA0FA3-33A2-44E8-8350-C93B2160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47950"/>
            <a:ext cx="27241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77A9DA2-731A-4499-B98A-5AA6B6AF0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95525"/>
            <a:ext cx="2495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INTEGRITY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ED6BA8-09C9-4459-B82C-0D9E80E7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905125"/>
            <a:ext cx="24193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2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payload_length</a:t>
            </a:r>
          </a:p>
          <a:p xmlns:a="http://schemas.openxmlformats.org/drawingml/2006/main">
            <a:pPr algn="ctr">
              <a:lnSpc>
                <a:spcPct val="12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crc32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11CD80-45C1-4893-812E-9FB122DCB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71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Payload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409E43-9D59-4F19-8AA3-F64520B2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438650"/>
            <a:ext cx="3714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Binary: DATA_BATCH, LATEST_UPDATE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F374343-285D-4CEB-9470-956035EE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38650"/>
            <a:ext cx="4933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Compact JSON: control, CRITICAL_ALERT, ERROR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0CE7D7-AF54-4995-BD75-C1D947442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A10F43-654E-4287-AEF3-3D81D5DC5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333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Syntax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E77B9B-1E72-42BA-AB18-1CFB6E0C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52387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B1F33"/>
                </a:solidFill>
                <a:latin typeface="Courier New"/>
                <a:ea typeface="Courier New"/>
                <a:cs typeface="Courier New"/>
              </a:defRPr>
            </a:pPr>
            <a:r>
              <a:rPr sz="1725" b="1">
                <a:solidFill>
                  <a:srgbClr val="0B1F33"/>
                </a:solidFill>
                <a:latin typeface="Courier New"/>
                <a:ea typeface="Courier New"/>
                <a:cs typeface="Courier New"/>
              </a:rPr>
              <a:t>!4sBBBBIIIQIHHI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A0708F-3D46-4F78-B857-D7643335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387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Semantics + rules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2474A1-B470-448B-A1A8-F70FC9FB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38750"/>
            <a:ext cx="38862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5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type / flags / status / session ต้องสอดคล้องกัน</a:t>
            </a:r>
          </a:p>
        </p:txBody>
      </p:sp>
    </p:spTree>
    <p:extLst>
      <p:ext uri="{BB962C8B-B14F-4D97-AF65-F5344CB8AC3E}">
        <p14:creationId xmlns:p14="http://schemas.microsoft.com/office/powerpoint/2010/main" val="25540060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CD3F31-1425-49F1-860F-29AA65A1B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948675-A8E8-4F6B-8152-EF9D9460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PROTOCOL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F181D2-B8F0-4C92-B03E-C4C86A33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Request / response ที่ตรวจบน wire 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122ADC-A871-488A-8354-29BD4A80D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Server response ใช้ CONTROL และ echo session, sensor, sequence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F502F3-B575-46C7-BC32-DADA168EF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FE89F1-214E-4CDB-8C12-CD510D188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4B54A3-EC1A-4404-BCAD-0D234C27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53480C-526F-480D-839F-C9956A55D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288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CLIENT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34FF34-CD3E-40F0-A4C2-9E4F83FE8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2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SERVER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BB98EB-DD49-45FA-A4AD-CBC264AEF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8288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RESULT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938BB6-37F9-4E7F-B31F-086D45011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REGISTER_REQ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F493B-1C12-4FD9-9D4B-33D38C49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409825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536EC5-47B7-4606-A4E8-707A767C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3336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REGISTER_RES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02BD35-65EF-4FC8-8226-A6726F77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33625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201 REGISTERED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EC084F-3F71-4802-8938-33EDB54D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24175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E0CF5E-8C68-4FEC-A2D9-DCDCA199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6707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CRITICAL_ALERT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51D794-1267-453D-8BA7-4249844E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343275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9CDAF6-08C2-4051-AB9C-34911DC0D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2670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21CECC-8A21-47C8-B41C-E014DAE3C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67075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202 ACCEPTED / 409 DUPLICATE / 408 EXPIRED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49C4F27-E707-4FDC-8B72-40909430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57625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5EDE1-9A8E-4753-9EF1-1DCAE67A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0052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CONFIG_REQ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B3BB82-68CB-48A6-A95C-09B8C1918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276725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3D5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8C3DA6-4556-4D54-8BCF-8663E49E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005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CONFIG_RES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C8ABDD7-95F2-418C-8681-D5E0AF2E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200525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200 OK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3C1311-6240-4381-9043-7071C99F6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91075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3C2324-5B20-435E-80D4-3B286877A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33975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F5A62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F5A623"/>
                </a:solidFill>
                <a:latin typeface="Tahoma"/>
                <a:ea typeface="Tahoma"/>
                <a:cs typeface="Tahoma"/>
              </a:rPr>
              <a:t>HEARTBEAT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881FF7-921E-401A-B24E-C6786EA4B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210175"/>
            <a:ext cx="104775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2722EF7-8182-40EB-A54B-89003A648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1339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HEARTBEAT_ACK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B03F5A-51D0-444E-8806-FF21F0158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133975"/>
            <a:ext cx="3381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00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200 OK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6B599F-7AC0-4A73-9BD1-56B55D6E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724525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618146-0471-4CFB-8B3F-24FBAB7B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848350"/>
            <a:ext cx="895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ERROR ใช้ 4xx/5xx + JSON detail • request/data ใช้ status_code = 0</a:t>
            </a:r>
          </a:p>
        </p:txBody>
      </p:sp>
    </p:spTree>
    <p:extLst>
      <p:ext uri="{BB962C8B-B14F-4D97-AF65-F5344CB8AC3E}">
        <p14:creationId xmlns:p14="http://schemas.microsoft.com/office/powerpoint/2010/main" val="10421519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2C2456-EEF5-49D5-A356-904A5D083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9E3F1-6FEC-4294-A05D-63ED4D71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A467E3-D5E1-4380-854C-3F9807EB3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ACK หายได้ แต่เหตุสำคัญต้องไม่ถูก process ซ้ำ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C82C0-6EC4-4D65-A20E-4FFBD8283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sequence เดิมทำให้ sender correlate ACK และ server ตรวจ duplicate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AB9D55-2E14-49F2-ADCB-A9365B92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0D160-25E9-4577-BEB6-FD02FBE08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186D0B-7483-4F93-A0CC-30762339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E35DE6-9635-4577-B4B1-D2DBF651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28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CLIENT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87C1F0-DA08-4E3F-ABE6-3ECA3797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8288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SERVER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CEFC98-168B-49D3-A36A-22608AC3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238375"/>
            <a:ext cx="381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FC6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5C1D3-6F85-4803-B93C-C0BE42621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2238375"/>
            <a:ext cx="38100" cy="3000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B2A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606FEE-BB36-4C83-9905-7AA4011D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>
            <a:off x="2381250" y="2476500"/>
            <a:ext cx="74295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BFB216-25FB-4BC3-884F-FD5B52A7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145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CRITICAL seq=77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BEF07E-9EB2-435E-AA20-D7147ECD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0A6A6"/>
                </a:solidFill>
                <a:latin typeface="Tahoma"/>
                <a:ea typeface="Tahoma"/>
                <a:cs typeface="Tahoma"/>
              </a:rPr>
              <a:t>server: process once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AD3C56-CFBD-4CD3-AB60-1A2E98F55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2381250" y="3333750"/>
            <a:ext cx="74295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0CE8F5-3C87-49C7-B3E7-A78EC2DDD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71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ACK 202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02BD5A-DA6D-422B-9ED7-6E4A44991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657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FF6B5E"/>
                </a:solidFill>
                <a:latin typeface="Tahoma"/>
                <a:ea typeface="Tahoma"/>
                <a:cs typeface="Tahoma"/>
              </a:rPr>
              <a:t>simulated drop ×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782140-BCAA-405F-8566-25E1492D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>
            <a:off x="2381250" y="4191000"/>
            <a:ext cx="74295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5A62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204055-1462-4971-88CE-0558CE8F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8290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same seq + RETRANSMISSION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AA3182-7210-47D7-B965-6B4AF1A9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5148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F5A623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F5A623"/>
                </a:solidFill>
                <a:latin typeface="Tahoma"/>
                <a:ea typeface="Tahoma"/>
                <a:cs typeface="Tahoma"/>
              </a:rPr>
              <a:t>client: timeout 250 ms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9ED3E7-F93B-4B42-8E8B-43CC23A6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2381250" y="5048250"/>
            <a:ext cx="74295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76AD61-9311-4F52-8F7E-3C48B847A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6863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ACK 409 DUPLICATE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6E0964-F402-4FD0-B6BA-27693C3A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3721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FF6B5E"/>
                </a:solidFill>
                <a:latin typeface="Tahoma"/>
                <a:ea typeface="Tahoma"/>
                <a:cs typeface="Tahoma"/>
              </a:rPr>
              <a:t>delivery confirmed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ED2848-322B-4E95-BC58-C237A40B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5857875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Identity = session + sensor + type + sequence</a:t>
            </a:r>
          </a:p>
        </p:txBody>
      </p:sp>
    </p:spTree>
    <p:extLst>
      <p:ext uri="{BB962C8B-B14F-4D97-AF65-F5344CB8AC3E}">
        <p14:creationId xmlns:p14="http://schemas.microsoft.com/office/powerpoint/2010/main" val="163718979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B34E82-7AB8-4308-AAF2-25E959FD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A02306-C69B-4ADD-B247-FD72788E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CONCURRENCY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E1D1CE-96EB-4FA0-9B00-AAC1704C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หลาย sensor • UDP port เดียว • state แยกด้วย session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78AFF9-AE64-4EB9-B0F2-078769002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Server receiver ส่ง datagram เข้า worker pool และป้องกัน shared state ด้วย lock/condition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158BAB-1D69-4D1F-8524-FB62B6643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4452FA-A394-4B34-86C6-2F0F65CB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837A6-56E2-4FA0-95D4-4C81033B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7A66C4-9459-4EDD-A22F-E603897B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47925"/>
            <a:ext cx="1714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9DA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0C93CD-8872-48AA-A680-BBD086DCA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495675"/>
            <a:ext cx="1714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9DA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B3049A-10F3-480D-ABC8-13DF2C20F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543425"/>
            <a:ext cx="17145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9DA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07B721-D195-4DCD-B739-13A4E03EF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38500"/>
            <a:ext cx="16192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C3D04-1C97-49F3-BA3C-18FF9281F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1143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B6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401252-7E0C-42AE-AF64-631B74A01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76625"/>
            <a:ext cx="1143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B6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25AD35-9B50-4504-9457-34063531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476750"/>
            <a:ext cx="11430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3B6A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76BA9F-9BAC-431C-8EB2-AC11E4D16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1714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6E1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1694D5-194A-4AB6-BC9C-2EE815E3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21932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Sensor 1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session 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4F531A-16DC-4D07-BAFF-A74F018FE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95625"/>
            <a:ext cx="1714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6E1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EACCD0-AF29-4591-A69D-040EC0FE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326707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Sensor 2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session 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A4A900-CB4A-4680-BBC9-35D2E6BC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43375"/>
            <a:ext cx="1714500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6E1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378962-5CED-4069-BFD7-57538B90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4314825"/>
            <a:ext cx="1428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Sensor 3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session C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82A0E2-D184-45EF-B339-5195FD8E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714625"/>
            <a:ext cx="1952625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DA9914-F01C-4A37-A62E-036B9646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48000"/>
            <a:ext cx="14763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UDP :9999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receiver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A11A73-B6D8-4CE9-8E89-FFBB15913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14625"/>
            <a:ext cx="1809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8F6F4"/>
          </a:solidFill>
          <a:ln xmlns:a="http://schemas.openxmlformats.org/drawingml/2006/main" w="19050">
            <a:solidFill>
              <a:srgbClr val="00A6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4CFB43-8CA8-4510-88C5-D84A4848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48000"/>
            <a:ext cx="133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582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worker pool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8 threads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A6681F-E350-4EA3-96BB-C9030E5F3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90750"/>
            <a:ext cx="1428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F335E4-F737-4214-9694-36B97A20D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36220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26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session A state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9D45E9-24A7-411A-BB2F-91D2BC32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238500"/>
            <a:ext cx="1428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13C30BD-73F1-4CC7-9A97-5FEE4DD5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340995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26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session B state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48A61DB-73EC-4550-80CC-ADB28E11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286250"/>
            <a:ext cx="1428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E1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E08898-4972-44A7-AC89-CBCD8829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457700"/>
            <a:ext cx="123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41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session C state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0506C0-6119-4AF2-BF4F-207B0BBC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5429250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latest state key = session + sensor + metric</a:t>
            </a:r>
          </a:p>
        </p:txBody>
      </p:sp>
    </p:spTree>
    <p:extLst>
      <p:ext uri="{BB962C8B-B14F-4D97-AF65-F5344CB8AC3E}">
        <p14:creationId xmlns:p14="http://schemas.microsoft.com/office/powerpoint/2010/main" val="4322100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A733600-AFF5-4324-A0BA-F0E0712B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9AE177-5BBA-4680-B3B7-204D3315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LIVE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BA5DB0-6652-436F-ADE3-D1F4D589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เดโมบังคับให้ ACK หาย แล้วตรวจหลักฐานครบวงจร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CF0E07-7EA7-4F4B-A8A0-A489E40E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5/5 virtual sensors • 10% client-side loss • strict DART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A033C9-BB9C-460D-B8CA-F61D4A89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185ED-EB30-4244-A4B0-4582D11C3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1D30C4-F895-48DB-A732-3202F4CB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B8C991-35DE-43B4-8A05-084728E2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238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34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5/5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128B4A-E488-4E1B-A9F6-A828033E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Sensors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2AB154-5FE2-48AE-8A28-B9468A4B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266950"/>
            <a:ext cx="19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14D739-42CA-4111-A9C7-AD226381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190750"/>
            <a:ext cx="2238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345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BB6306-3F60-4A17-B10E-ACBEEC06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81940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Retransmissions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C152AD-1C53-4F8A-9BA9-EF65CBD9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2266950"/>
            <a:ext cx="19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FAE560-5FA0-49DF-8B53-B35B44D7E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90750"/>
            <a:ext cx="2238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345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E7BE05-197F-49AC-B3F9-DA57EFE5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1940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Duplicates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57FBC-CD72-4B28-9F44-B482064EC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66950"/>
            <a:ext cx="19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82D220-8418-4C22-A0D1-C1B9593A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190750"/>
            <a:ext cx="2238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450" b="1">
                <a:solidFill>
                  <a:srgbClr val="27AE60"/>
                </a:solidFill>
                <a:latin typeface="Tahoma"/>
                <a:ea typeface="Tahoma"/>
                <a:cs typeface="Tahoma"/>
              </a:defRPr>
            </a:pPr>
            <a:r>
              <a:rPr sz="3450" b="1">
                <a:solidFill>
                  <a:srgbClr val="27AE60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B4FF82-8A35-4C0E-AC80-44237383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19400"/>
            <a:ext cx="2238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Critical processed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BC7554-02A5-4976-81F3-533CA683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86F9B7-2727-4CC5-9103-2FD1B7F2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2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FE137B-7415-4CC1-93B5-478D236B4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ACK ถูกจงใจ drop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7CF4E9-C58E-41E5-9938-9AF2F290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5775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1 ครั้ง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C8A486-CE0C-4240-90F3-7DC5F6F2E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86250"/>
            <a:ext cx="42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F5A62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5A623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53F271-209E-4530-ABC2-533DB419B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286250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Client timeout และ retry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03C09BC-3AFA-402A-8A7C-CCF95C50F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85775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3 retransmissions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FB29A8-3D6E-4A63-B6EF-F67031B6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286250"/>
            <a:ext cx="42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405F9D0-37AB-4A3B-9FA6-2DC8E5CEA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86250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Server suppress duplicate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D4D23D-B7EB-4BF0-8328-398513DAA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5775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1 duplicate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1798DB-C6EE-4E55-9B44-B6957AEB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86250"/>
            <a:ext cx="428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7AE60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7AE60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6802EB-071E-46AA-9D2D-7CF074F95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286250"/>
            <a:ext cx="1952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Critical side effect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70BF061-D5FE-4870-A5AE-E43EF66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57750"/>
            <a:ext cx="1952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1 ครั้ง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3B55F70-0CB6-4B76-B007-3DD84050C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572125"/>
            <a:ext cx="5334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8F6F4"/>
          </a:solidFill>
          <a:ln xmlns:a="http://schemas.openxmlformats.org/drawingml/2006/main" w="19050">
            <a:solidFill>
              <a:srgbClr val="00A6A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E9417A2-76BE-4040-84DB-401CB9B5A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6769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27AE60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7AE60"/>
                </a:solidFill>
                <a:latin typeface="Tahoma"/>
                <a:ea typeface="Tahoma"/>
                <a:cs typeface="Tahoma"/>
              </a:rPr>
              <a:t>DEMO RESULT: PASS</a:t>
            </a:r>
          </a:p>
        </p:txBody>
      </p:sp>
    </p:spTree>
    <p:extLst>
      <p:ext uri="{BB962C8B-B14F-4D97-AF65-F5344CB8AC3E}">
        <p14:creationId xmlns:p14="http://schemas.microsoft.com/office/powerpoint/2010/main" val="11304779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933E0A-BD40-4712-9DA5-E15CC678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6DEA30-0251-41A5-8A0B-92F4B45D5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WIRESHARK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7AA6F1-9D2E-4D9B-B7E3-17532732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 packet ให้เห็นว่า protocol ทำงานจริง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249377-94A1-41EE-83BF-052A56146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C4D7DE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C4D7DE"/>
                </a:solidFill>
                <a:latin typeface="Tahoma"/>
                <a:ea typeface="Tahoma"/>
                <a:cs typeface="Tahoma"/>
              </a:rPr>
              <a:t>Lua dissector แสดง header, flags, status และ typed payload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1C134C-F8B6-4F7F-AC81-CE8933C7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8C8D12-EC42-49E6-B57E-B25EC9C81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BFD7DF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EA496E-F674-4378-B33F-047406323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BFD7DF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2F4C9B-B462-4693-8BBB-9B8E8A46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Display filters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DF5270-9C17-48BD-AB82-F254CF2B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452437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2F43"/>
          </a:solidFill>
          <a:ln xmlns:a="http://schemas.openxmlformats.org/drawingml/2006/main" w="9525">
            <a:solidFill>
              <a:srgbClr val="29485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BB1835-F6EB-4AA7-9CED-9D67C5A7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414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EA9A8C-A4CD-4ECE-94B3-5F12AA4B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452437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2F43"/>
          </a:solidFill>
          <a:ln xmlns:a="http://schemas.openxmlformats.org/drawingml/2006/main" w="9525">
            <a:solidFill>
              <a:srgbClr val="2948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2385F9-C510-4C36-B267-35669BC0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414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dart.msg_type == 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21E31B-D7DC-445E-85FC-7DE68B91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67150"/>
            <a:ext cx="452437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2F43"/>
          </a:solidFill>
          <a:ln xmlns:a="http://schemas.openxmlformats.org/drawingml/2006/main" w="9525">
            <a:solidFill>
              <a:srgbClr val="2948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84706-8823-442A-BCD5-BDDE810B1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414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dart.flags.retransmission ==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9F464E-E88D-48F6-8D4D-642C9E419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4524375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2F43"/>
          </a:solidFill>
          <a:ln xmlns:a="http://schemas.openxmlformats.org/drawingml/2006/main" w="9525">
            <a:solidFill>
              <a:srgbClr val="2948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416AA4-921C-4D0B-AF55-D955A4D5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0100"/>
            <a:ext cx="4143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dart.status_code == 409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E8F1FD-101C-49B6-A690-E9FDF2CA2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065787-3AB3-4B28-90FA-B5C500B0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002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Capture story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43E345-189E-4C32-87DE-BDCBD7CF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193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914823-E709-4F59-9C7F-E0571515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619375"/>
            <a:ext cx="433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REGISTER_REQ → 201 REGISTERED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37F571-2667-4300-8EA8-A79178FC8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1623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829506-C110-47CE-9A45-63E8D7CC7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623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C4B6DB-E556-4570-AAAA-21469A7BB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362325"/>
            <a:ext cx="433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DATA_BATCH: count + readings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8E6390-2361-4202-8CB6-A52ECF6BC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052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E79315-EC92-4D2C-A644-45E19806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052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7253419-CF02-4A15-A1F2-A7C003860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05275"/>
            <a:ext cx="433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LATEST_UPDATE: newest sequence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AE3083-6FAC-4318-883F-BE747AE9B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4820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9FBDB33-64BA-486C-BA7D-0D2136977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8482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A651A7-BB75-4911-91C2-9A2B742A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848225"/>
            <a:ext cx="4333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CRITICAL seq เดิม 2 ครั้ง → 409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F15A68-D8DC-494D-9AAF-27DE4451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911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EAE2CBF-2477-4CD4-AB67-95EFB9BD4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19750"/>
            <a:ext cx="523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หลักฐานบน wire &gt; screenshot ของ app</a:t>
            </a:r>
          </a:p>
        </p:txBody>
      </p:sp>
    </p:spTree>
    <p:extLst>
      <p:ext uri="{BB962C8B-B14F-4D97-AF65-F5344CB8AC3E}">
        <p14:creationId xmlns:p14="http://schemas.microsoft.com/office/powerpoint/2010/main" val="129871006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6AC25B-3A54-4A20-87B4-40113BEF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53C113-B795-4B3B-A9A2-724F622B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MEASUREMENT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7AB33-358E-4547-9BFD-B25D7708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Benchmark ต้องเทียบ workload เดียวกันก่อนเทียบผล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CF36C2-A2E9-419A-BB32-D42AF3CA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RAW • RELIABLE-ALL • DART | 0%, 10%, 20% simulated loss | repeats =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4D6E74-0F3A-4B55-B5CD-C4FA8DC0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002CC8-0DC1-4427-B8C9-4F2A6D66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EF76C-C5B8-4B21-92E8-A4905077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89790A-8DD4-4F94-A1A8-06299C88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00375"/>
            <a:ext cx="9334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8550ED-1164-400A-B5A5-493EED58A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19375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00A6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C21704-250D-484E-BE66-1B7DCD74E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7813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3E7493-8280-487B-B6BB-1F55B13C4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67125"/>
            <a:ext cx="152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Precompute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events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FA788A-67F3-4FD2-8280-99B891B02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619375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43D5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068516-DC87-4F1F-BF61-8DDF37AC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813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4601B1-12C3-4054-8E38-6114AD9FD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667125"/>
            <a:ext cx="152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Barrier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start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57BC7F-B520-4E7C-8C1B-288CC8E7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19375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F5A62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7C9FA8-6442-4BAC-97C4-952D2603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7813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5A62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5A623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9CB24-5978-463E-9FB8-1022D973D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67125"/>
            <a:ext cx="152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Run each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8317C0-E65F-4CC2-B454-3FBA2F191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19375"/>
            <a:ext cx="8001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47625">
            <a:solidFill>
              <a:srgbClr val="FF6B5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89C689-270B-4204-9BE4-D8B4D99E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81300"/>
            <a:ext cx="457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A75E2F-7DA8-4C7D-9632-1C5B7C75C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667125"/>
            <a:ext cx="1524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09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Verify SHA-256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fingerprint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7DF52D-3197-4BC8-BAF5-84A5F1A50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Metrics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75A929-67C3-4CFC-98B2-2BAA3FE60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810125"/>
            <a:ext cx="95535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delivery • final latest state • critical acceptance • client confirmation • p95 latency • attempted/sent bytes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522C34-9D35-402A-83D8-CD4B5454B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238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Caveat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62AC91-69CA-42DD-A492-50432B83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524500"/>
            <a:ext cx="95535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seed เดียวกันไม่รับประกัน paired packet-level drops เมื่อ thread และ retries ต่างกัน จึงใช้หลาย repeats</a:t>
            </a:r>
          </a:p>
        </p:txBody>
      </p:sp>
    </p:spTree>
    <p:extLst>
      <p:ext uri="{BB962C8B-B14F-4D97-AF65-F5344CB8AC3E}">
        <p14:creationId xmlns:p14="http://schemas.microsoft.com/office/powerpoint/2010/main" val="21275371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6911A5-FF9C-416C-9431-88BE87486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103149-02A5-4385-B7E5-47E71436E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50AE2-C89A-4C82-80C8-7588BC85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ที่ 20% loss: DART ซื้อ reliability เฉพาะ critical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B4AD27-10FF-4FB5-A78B-B52AC247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Attempted DART bytes ต่อ generated value - ต่ำกว่าการ reliable ทุกข้อความ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532CD1-96EC-4483-A77E-99F25F5D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4DF4C2-EA7D-4C32-9F0F-C4F835D6A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646624-4DA3-46BF-969F-9E5D6C703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685800" y="2047875"/>
          <a:ext xmlns:a="http://schemas.openxmlformats.org/drawingml/2006/main" cx="62865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fd176f2e3145ed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2EAA32-CC04-40D0-BCB3-74062BA3B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47875"/>
            <a:ext cx="190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B476A3-2215-4123-9DA3-39E259DB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95500"/>
            <a:ext cx="333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Critical confirmation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5ECB4E-6F8D-4D5F-9BAD-1BC43275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5241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350" b="1">
                <a:solidFill>
                  <a:srgbClr val="27AE60"/>
                </a:solidFill>
                <a:latin typeface="Tahoma"/>
                <a:ea typeface="Tahoma"/>
                <a:cs typeface="Tahoma"/>
              </a:defRPr>
            </a:pPr>
            <a:r>
              <a:rPr sz="4350" b="1">
                <a:solidFill>
                  <a:srgbClr val="27AE60"/>
                </a:solidFill>
                <a:latin typeface="Tahoma"/>
                <a:ea typeface="Tahoma"/>
                <a:cs typeface="Tahoma"/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26029E-70C4-4DB3-B66F-00ACAD89D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3850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DART และ RELIABLE-ALL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A80E1D-C659-4261-825B-342AC491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810000"/>
            <a:ext cx="314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B27BEE-084B-492A-A04F-C024A17E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0957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ความต่าง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1C665C-B344-4958-99DE-45C208D04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19625"/>
            <a:ext cx="3333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6" indent="-14">
              <a:lnSpc>
                <a:spcPct val="102000"/>
              </a:lnSpc>
              <a:spcAft>
                <a:spcPts val="8"/>
              </a:spcAft>
              <a:buNone/>
              <a:defRPr sz="150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0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RAW critical accepted 83%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8"/>
              </a:spcAft>
              <a:buNone/>
              <a:defRPr sz="150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0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DART attempted 95.4 B/value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8"/>
              </a:spcAft>
              <a:buNone/>
              <a:defRPr sz="150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50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RELIABLE-ALL 119.7 B/value</a:t>
            </a:r>
          </a:p>
        </p:txBody>
      </p:sp>
    </p:spTree>
    <p:extLst>
      <p:ext uri="{BB962C8B-B14F-4D97-AF65-F5344CB8AC3E}">
        <p14:creationId xmlns:p14="http://schemas.microsoft.com/office/powerpoint/2010/main" val="141120148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90206E-B543-4254-9895-7CA030CB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988962-0A0F-420F-8B8E-D8B44CF1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POSITIONING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400E2-A0F1-4500-86BC-56A23ABF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10820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150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DART ต่างจากวิธีที่มีอยู่ตรงไหน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B0BB82-271F-467D-9F5E-E502CCB1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049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5E7182"/>
                </a:solidFill>
                <a:latin typeface="Tahoma"/>
                <a:ea typeface="Tahoma"/>
                <a:cs typeface="Tahoma"/>
              </a:rPr>
              <a:t>จุดเด่นคือ message-level trade-off ที่วัดได้ - ไม่ใช่ feature ของ GUI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D3D7B-DE05-4926-A575-B9CD9EE1E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1CE9DF-E594-4F99-8800-EC4D2C61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52EAB-2DDD-4028-AE63-ACEF76E19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5E7182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5E7182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C5D929-DB14-490B-BA13-BCD03E02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00A6A6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00A6A6"/>
                </a:solidFill>
                <a:latin typeface="Tahoma"/>
                <a:ea typeface="Tahoma"/>
                <a:cs typeface="Tahoma"/>
              </a:rPr>
              <a:t>จุดเด่น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DC8948-BA78-441E-96FD-58B23C5EF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4810125" cy="2809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เลือก reliability ต่อ message class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latest-state semantics ลดคุณค่าของค่าเก่า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ACK/retry พร้อม commit-safe duplicate handling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wire format + Wireshark + status phrase ตรวจได้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benchmark แยก acceptance และ confirmation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9459C7-6A89-40A5-972D-A070F8CC7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047875"/>
            <a:ext cx="19050" cy="3667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1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E484FE-BAE5-4725-AC24-0B60B546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47875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ข้อจำกัดที่ยอมรับ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30A533-34DC-4B33-AB1F-0312B16F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14625"/>
            <a:ext cx="4762500" cy="2809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ยังไม่มี encryption / authentication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ยังไม่มี congestion control และ windowing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session/state อยู่ใน memory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loopback loss ไม่ใช่ topology จริง</a:t>
            </a:r>
          </a:p>
          <a:p xmlns:a="http://schemas.openxmlformats.org/drawingml/2006/main">
            <a:pPr marL="26" indent="-14">
              <a:lnSpc>
                <a:spcPct val="102000"/>
              </a:lnSpc>
              <a:spcAft>
                <a:spcPts val="12"/>
              </a:spcAft>
              <a:buNone/>
              <a:defRPr sz="1650">
                <a:solidFill>
                  <a:srgbClr val="172A3A"/>
                </a:solidFill>
                <a:latin typeface="Tahoma"/>
                <a:ea typeface="Tahoma"/>
                <a:cs typeface="Tahoma"/>
              </a:defRPr>
            </a:pPr>
            <a:r>
              <a:rPr sz="1650">
                <a:solidFill>
                  <a:srgbClr val="172A3A"/>
                </a:solidFill>
                <a:latin typeface="Tahoma"/>
                <a:ea typeface="Tahoma"/>
                <a:cs typeface="Tahoma"/>
              </a:rPr>
              <a:t>prototype เพื่อการเรียน ไม่ใช่มาตรฐาน Internet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93ADC4-6676-4109-8367-71F75CC0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715000"/>
            <a:ext cx="70485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8F6F4"/>
          </a:solidFill>
          <a:ln xmlns:a="http://schemas.openxmlformats.org/drawingml/2006/main" w="9525">
            <a:solidFill>
              <a:srgbClr val="00A6A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9B7A76-8A91-4472-BCE1-0727722D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7912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B1F33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B1F33"/>
                </a:solidFill>
                <a:latin typeface="Tahoma"/>
                <a:ea typeface="Tahoma"/>
                <a:cs typeface="Tahoma"/>
              </a:rPr>
              <a:t>Claim ที่ถูกต้อง: DART ให้ trade-off แบบหนึ่งภายใต้ method ที่ระบุ</a:t>
            </a:r>
          </a:p>
        </p:txBody>
      </p:sp>
    </p:spTree>
    <p:extLst>
      <p:ext uri="{BB962C8B-B14F-4D97-AF65-F5344CB8AC3E}">
        <p14:creationId xmlns:p14="http://schemas.microsoft.com/office/powerpoint/2010/main" val="203387767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484C1-6E7B-47D7-9DC8-A880C66E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6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B67A9-314A-4579-AE2E-08DE44B24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0"/>
            <a:ext cx="120586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78A015-62CB-4886-AA6F-6530EC49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00125"/>
            <a:ext cx="7429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DART ทำให้ reliability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4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เป็นตัวเลือกของข้อความ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D4DCB1-F691-4486-9EDF-F9C9BD01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05125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43D5C9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43D5C9"/>
                </a:solidFill>
                <a:latin typeface="Tahoma"/>
                <a:ea typeface="Tahoma"/>
                <a:cs typeface="Tahoma"/>
              </a:rPr>
              <a:t>ปกติให้เบา • ล่าสุดให้สด • เหตุสำคัญให้ยืนยัน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56DEE0-88EB-46C4-BB75-8D66A9DD6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1047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6CCA92-CF7D-43F0-8FF5-4AD2A405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1428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6B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6B5E"/>
                </a:solidFill>
                <a:latin typeface="Tahoma"/>
                <a:ea typeface="Tahoma"/>
                <a:cs typeface="Tahoma"/>
              </a:rPr>
              <a:t>ลองเอง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300756-C092-44C3-9543-2FDA7FE55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048125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python3 -B demo.py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python3 -B benchmark.py --quick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defRPr>
            </a:pPr>
            <a:r>
              <a:rPr sz="1650" b="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wireshark/dart.lua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49F5F-1853-4730-81D2-0EFCB3DB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095750"/>
            <a:ext cx="2476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40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40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Q&amp;A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5C8CC0-4DF7-43EC-8676-A3F446717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572125"/>
            <a:ext cx="742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1200" b="0">
                <a:solidFill>
                  <a:srgbClr val="BFD7DF"/>
                </a:solidFill>
                <a:latin typeface="Tahoma"/>
                <a:ea typeface="Tahoma"/>
                <a:cs typeface="Tahoma"/>
              </a:rPr>
              <a:t>01418351 • เมตัส พานิช กายย์ • 6710405460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C09D9D-4B16-401B-A51C-6F1F84CE1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57875"/>
            <a:ext cx="7429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BFD7DF"/>
                </a:solidFill>
                <a:latin typeface="Tahoma"/>
                <a:ea typeface="Tahoma"/>
                <a:cs typeface="Tahoma"/>
              </a:rPr>
              <a:t>Computer Communications and Cloud Computing Principles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FD31AB-0DF9-4982-8F4F-7280A5FD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627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8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DF795C-8D72-47B5-B593-89AF58336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579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BFD7DF"/>
                </a:solidFill>
                <a:latin typeface="Tahoma"/>
                <a:ea typeface="Tahoma"/>
                <a:cs typeface="Tahoma"/>
              </a:rPr>
              <a:t>DART v1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15ED4A-00BC-4066-984C-7C1AFE08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57950"/>
            <a:ext cx="742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BFD7DF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BFD7DF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3144117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Microsoft PowerPoint</ap:Application>
  <ap:PresentationFormat>Converted Presentation</ap:PresentationFormat>
  <ap:Slides>15</ap:Slides>
  <ap:Notes>15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เมตัส พานิช กายย์</dc:creator>
  <lastModifiedBy>เมตัส พานิช กายย์</lastModifiedBy>
  <dc:title>DART v1 - Deadline-Aware Reliable Telemetry</dc:title>
  <dcterms:created xsi:type="dcterms:W3CDTF">2026-08-28T05:27:04.4130000Z</dcterms:created>
  <dcterms:modified xsi:type="dcterms:W3CDTF">2026-08-28T05:27:04.4130000Z</dcterms:modified>
  <dc:subject>Project 1: Socket Programming - 01418351 Computer Communications and Cloud Computing Principles</dc:subject>
  <keywords>DART, UDP, application-layer protocol, 01418351</keywords>
  <dc:description>หลักการสื่อสารคอมพิวเตอร์และการประมวลผลบนคลาวด์ - เมตัส พานิช กายย์ (6710405460)</dc:description>
</coreProperties>
</file>